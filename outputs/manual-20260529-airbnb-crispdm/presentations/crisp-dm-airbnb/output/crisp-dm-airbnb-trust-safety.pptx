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f35b965b74d7c" /><Relationship Type="http://schemas.openxmlformats.org/officeDocument/2006/relationships/extended-properties" Target="/docProps/app.xml" Id="Rf337b2e4f14b4e88" /><Relationship Type="http://schemas.openxmlformats.org/officeDocument/2006/relationships/officeDocument" Target="/ppt/presentation.xml" Id="R1008822a45d340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11f3471434dbc"/>
  </p:sldMasterIdLst>
  <p:notesMasterIdLst>
    <p:notesMasterId xmlns:r="http://schemas.openxmlformats.org/officeDocument/2006/relationships" r:id="R98156de00f154401"/>
  </p:notesMasterIdLst>
  <p:sldIdLst>
    <p:sldId xmlns:r="http://schemas.openxmlformats.org/officeDocument/2006/relationships" id="256" r:id="R4294e075ebf942fe"/>
    <p:sldId xmlns:r="http://schemas.openxmlformats.org/officeDocument/2006/relationships" id="257" r:id="Ra6f0ea2d3dcd4011"/>
    <p:sldId xmlns:r="http://schemas.openxmlformats.org/officeDocument/2006/relationships" id="258" r:id="R64dd60a34d1c4d91"/>
    <p:sldId xmlns:r="http://schemas.openxmlformats.org/officeDocument/2006/relationships" id="259" r:id="R8c7ad4d6a66e4bc9"/>
    <p:sldId xmlns:r="http://schemas.openxmlformats.org/officeDocument/2006/relationships" id="260" r:id="R94e0ed3a8d224e7b"/>
    <p:sldId xmlns:r="http://schemas.openxmlformats.org/officeDocument/2006/relationships" id="261" r:id="R2f669c99df734716"/>
    <p:sldId xmlns:r="http://schemas.openxmlformats.org/officeDocument/2006/relationships" id="262" r:id="R7419d62214ec4f1b"/>
    <p:sldId xmlns:r="http://schemas.openxmlformats.org/officeDocument/2006/relationships" id="263" r:id="R82cb93acefee4cb4"/>
    <p:sldId xmlns:r="http://schemas.openxmlformats.org/officeDocument/2006/relationships" id="264" r:id="Rafa8c04184cf440d"/>
    <p:sldId xmlns:r="http://schemas.openxmlformats.org/officeDocument/2006/relationships" id="265" r:id="Re7b0ba66e56d4a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11f3471434dbc" /><Relationship Type="http://schemas.openxmlformats.org/officeDocument/2006/relationships/theme" Target="/ppt/theme/theme1.xml" Id="R089caefb4ea342d0" /><Relationship Type="http://schemas.openxmlformats.org/officeDocument/2006/relationships/notesMaster" Target="/ppt/notesMasters/notesMaster1.xml" Id="R98156de00f154401" /><Relationship Type="http://schemas.openxmlformats.org/officeDocument/2006/relationships/presProps" Target="/ppt/presProps.xml" Id="R3877451d6f7e458a" /><Relationship Type="http://schemas.openxmlformats.org/officeDocument/2006/relationships/viewProps" Target="/ppt/viewProps.xml" Id="R87b919058dc04541" /><Relationship Type="http://schemas.openxmlformats.org/officeDocument/2006/relationships/tableStyles" Target="/ppt/tableStyles.xml" Id="R01b0138aecdb480a" /><Relationship Type="http://schemas.openxmlformats.org/officeDocument/2006/relationships/slide" Target="/ppt/slides/slide1.xml" Id="R4294e075ebf942fe" /><Relationship Type="http://schemas.openxmlformats.org/officeDocument/2006/relationships/slide" Target="/ppt/slides/slide2.xml" Id="Ra6f0ea2d3dcd4011" /><Relationship Type="http://schemas.openxmlformats.org/officeDocument/2006/relationships/slide" Target="/ppt/slides/slide3.xml" Id="R64dd60a34d1c4d91" /><Relationship Type="http://schemas.openxmlformats.org/officeDocument/2006/relationships/slide" Target="/ppt/slides/slide4.xml" Id="R8c7ad4d6a66e4bc9" /><Relationship Type="http://schemas.openxmlformats.org/officeDocument/2006/relationships/slide" Target="/ppt/slides/slide5.xml" Id="R94e0ed3a8d224e7b" /><Relationship Type="http://schemas.openxmlformats.org/officeDocument/2006/relationships/slide" Target="/ppt/slides/slide6.xml" Id="R2f669c99df734716" /><Relationship Type="http://schemas.openxmlformats.org/officeDocument/2006/relationships/slide" Target="/ppt/slides/slide7.xml" Id="R7419d62214ec4f1b" /><Relationship Type="http://schemas.openxmlformats.org/officeDocument/2006/relationships/slide" Target="/ppt/slides/slide8.xml" Id="R82cb93acefee4cb4" /><Relationship Type="http://schemas.openxmlformats.org/officeDocument/2006/relationships/slide" Target="/ppt/slides/slide9.xml" Id="Rafa8c04184cf440d" /><Relationship Type="http://schemas.openxmlformats.org/officeDocument/2006/relationships/slide" Target="/ppt/slides/slide10.xml" Id="Re7b0ba66e56d4a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61b906547fb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3ebbc9e1843b8" /><Relationship Type="http://schemas.openxmlformats.org/officeDocument/2006/relationships/notesMaster" Target="/ppt/notesMasters/notesMaster1.xml" Id="R15220a32cfd847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ee7ab33b6b4792" /><Relationship Type="http://schemas.openxmlformats.org/officeDocument/2006/relationships/notesMaster" Target="/ppt/notesMasters/notesMaster1.xml" Id="R5f9ed0df8e7a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de532fd23444ac" /><Relationship Type="http://schemas.openxmlformats.org/officeDocument/2006/relationships/notesMaster" Target="/ppt/notesMasters/notesMaster1.xml" Id="R2e8cc7e671464a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506af4d29a4968" /><Relationship Type="http://schemas.openxmlformats.org/officeDocument/2006/relationships/notesMaster" Target="/ppt/notesMasters/notesMaster1.xml" Id="R7b521cbd4daa47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8016e1d1734d49" /><Relationship Type="http://schemas.openxmlformats.org/officeDocument/2006/relationships/notesMaster" Target="/ppt/notesMasters/notesMaster1.xml" Id="Rad4457efd8d549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5716c15f394d42" /><Relationship Type="http://schemas.openxmlformats.org/officeDocument/2006/relationships/notesMaster" Target="/ppt/notesMasters/notesMaster1.xml" Id="R8f1a4664c18540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1093c8828e4d31" /><Relationship Type="http://schemas.openxmlformats.org/officeDocument/2006/relationships/notesMaster" Target="/ppt/notesMasters/notesMaster1.xml" Id="R1fef7fffc1b94e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3fab4834e84162" /><Relationship Type="http://schemas.openxmlformats.org/officeDocument/2006/relationships/notesMaster" Target="/ppt/notesMasters/notesMaster1.xml" Id="Rf1c9c9abaeb049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5b48aa18c14303" /><Relationship Type="http://schemas.openxmlformats.org/officeDocument/2006/relationships/notesMaster" Target="/ppt/notesMasters/notesMaster1.xml" Id="R0e3a916ea8134d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f2e539b3da484b" /><Relationship Type="http://schemas.openxmlformats.org/officeDocument/2006/relationships/notesMaster" Target="/ppt/notesMasters/notesMaster1.xml" Id="R0a03126613b548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b1f15b1e4445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5bfe66fb7740b7" /><Relationship Type="http://schemas.openxmlformats.org/officeDocument/2006/relationships/slideLayout" Target="/ppt/slideLayouts/slideLayout2.xml" Id="Radbbde1cf5b9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bde1cf5b9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41655b18944095" /><Relationship Type="http://schemas.openxmlformats.org/officeDocument/2006/relationships/notesSlide" Target="/ppt/notesSlides/notesSlide1.xml" Id="R58d323ad5b21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58979c838a49a9" /><Relationship Type="http://schemas.openxmlformats.org/officeDocument/2006/relationships/notesSlide" Target="/ppt/notesSlides/notesSlide2.xml" Id="Re9c9242eaf5c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7f4c94716d4abf" /><Relationship Type="http://schemas.openxmlformats.org/officeDocument/2006/relationships/notesSlide" Target="/ppt/notesSlides/notesSlide3.xml" Id="Rb546d7dbcb1e4b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7f4f2f1fed4072" /><Relationship Type="http://schemas.openxmlformats.org/officeDocument/2006/relationships/notesSlide" Target="/ppt/notesSlides/notesSlide4.xml" Id="R319817a0447a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4e13420104034" /><Relationship Type="http://schemas.openxmlformats.org/officeDocument/2006/relationships/notesSlide" Target="/ppt/notesSlides/notesSlide5.xml" Id="R94b626dd7c3d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5bbba39c3f4cae" /><Relationship Type="http://schemas.openxmlformats.org/officeDocument/2006/relationships/notesSlide" Target="/ppt/notesSlides/notesSlide6.xml" Id="R5550ec102e71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76d194d00a4f82" /><Relationship Type="http://schemas.openxmlformats.org/officeDocument/2006/relationships/notesSlide" Target="/ppt/notesSlides/notesSlide7.xml" Id="R15bc41dc6f6e43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85081328b4901" /><Relationship Type="http://schemas.openxmlformats.org/officeDocument/2006/relationships/notesSlide" Target="/ppt/notesSlides/notesSlide8.xml" Id="Re3072a400d874c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930ddc92cb4b0e" /><Relationship Type="http://schemas.openxmlformats.org/officeDocument/2006/relationships/notesSlide" Target="/ppt/notesSlides/notesSlide9.xml" Id="R3082a9193e6046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1ae13303942b3" /><Relationship Type="http://schemas.openxmlformats.org/officeDocument/2006/relationships/notesSlide" Target="/ppt/notesSlides/notesSlide10.xml" Id="R8dfceebcae4a4c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21CC20-C1B7-43CF-A636-90585651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ECCD75-8A50-47B0-99AC-CD27E61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E452F9-6816-4CD7-B940-B2E67F83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CRISP-DM | TRUST &amp;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ED02B-9D56-4793-9128-644B30B9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7620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El objetivo SMART convierte la calidad de listings en un sistema preventivo.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D0597-2F06-4B22-AAC0-DDF12D12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Sistema predictivo de calidad y riesgo para identificar listings con alta probabilidad de disputas graves antes de su primera reserva.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D1719-E527-4DBA-81F9-AC22A278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81050"/>
            <a:ext cx="2857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13F8A-34B1-41A1-B1F9-8E088A98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0287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E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E5BB"/>
                </a:solidFill>
                <a:latin typeface="Aptos"/>
                <a:ea typeface="Aptos"/>
                <a:cs typeface="Aptos"/>
              </a:rPr>
              <a:t>Pregunta de negocio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C15E7-7797-4328-8E42-CC31A52E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906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Como reducir la tasa de disputas graves en los 5 paises en un 20%?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60451-F866-48CC-842C-260DB82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A"/>
                </a:solidFill>
                <a:latin typeface="Aptos"/>
                <a:ea typeface="Aptos"/>
                <a:cs typeface="Aptos"/>
              </a:rPr>
              <a:t>La respuesta exige detectar riesgo antes de la primera reserva y medir impacto contra 2S-2025.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8254C-9CC1-4AEF-997F-6AAF30A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9616-7915-48CC-A973-6B88BC08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31CD2-56E2-40C3-A397-DD4FD8B5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85%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A61C0-BB81-4F94-9959-D93688BE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precision minima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FAE56-2F3C-4642-A5FF-BA0C247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meta del modelo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52649-0052-4E86-A1CB-2FE26CA3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623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EE4C9-0D34-48A5-AF8A-AAA8B550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62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0468B-42F6-4DB5-8FD1-1D753AB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0522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-20%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DFA4B-70BE-498E-ADEB-EE1D5304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disputas graves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6B7DC-F4D3-4F38-9DE2-BE5C5216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6720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vs. 2S-2025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AC488-B8B2-4CF4-A0EE-E8E2B99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C4A56-D096-49A2-9BA1-AF17191F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BAB9C-F83F-4E11-8E6D-A2E3954C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0522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C4795-F59D-4CD9-AD1B-E5A87757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paises objetivo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9D299-D3C2-4566-86B2-D1B6F91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720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EE.UU., BR, MX, ES, JP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F0BE9-6ED9-44FB-9129-190AB75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4229A-2FB4-4771-A2F7-CB22676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50"/>
          </a:solidFill>
          <a:ln xmlns:a="http://schemas.openxmlformats.org/drawingml/2006/main" w="0">
            <a:solidFill>
              <a:srgbClr val="D94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CADFF-4CAE-417A-BB58-7AD50A5C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0522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934D01-C063-469B-9978-BB23112D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meses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A6444E-A71D-4725-BB2F-A7483D9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6720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hasta diciembre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69C57E-3929-49D6-AAEC-D93CB3C9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13746D-6127-4828-935D-400D67E2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63B50-ABD6-4472-9AD8-C7BBDDC8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0522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7E6203-86C3-4A4E-A73C-20D86117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38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reserva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8B5C7A-2808-4E12-B670-7FAE7940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6720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scoring preventivo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2ED162-E8AB-48FF-9BCA-9CCE8992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Base actual: medallion + marts de trust/risk. Pendiente: reservas, disputas y soporte para validar precision real.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A3358E-6340-4A04-BB00-D677925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292C84-DEA8-41C0-A86E-5ACE764B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README.md, docs/trust-risk-analytics.md, docs/crisp-dm-modelado-airbnb.md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21EAE4-C89C-436A-ACD8-5E52A48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22607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6B996-B906-410D-A586-698E2DE5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C9BC6F-8704-4875-90F0-9175739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16A48D-32E9-48AC-8AEB-FB275308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COMPRENSION DEL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F8790-723C-44ED-A360-F0D2C2D8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pregunta de negocio se traduce en una decision operativa antes de la reserva.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8B09B-9753-4B19-A397-3242C055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El sistema no solo predice riesgo: ordena intervenciones para reducir exposicion a disputas graves.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B11E6-0F23-41EC-9540-93DB808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2194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BA63A-2C71-40AE-BCA2-EA2EC3EF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5A5F"/>
                </a:solidFill>
                <a:latin typeface="Aptos"/>
                <a:ea typeface="Aptos"/>
                <a:cs typeface="Aptos"/>
              </a:rPr>
              <a:t>Entrada de negocio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A40F3-C732-47B9-8FE4-5A14A13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Reducir disputas graves en EE.UU., Brasil, Mexico, Espana y Japon.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2B63E-5BB2-40F4-A897-959690EC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La unidad de decision es el listing: detectar riesgo, explicar causa y activar una accion preventiva.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91A08-DD5C-40FD-9173-9D11F426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2724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CDFC0-6950-4D11-9779-B048D1C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9667F-91E3-4EEE-B705-D7C0AB69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860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78846-A383-417A-AB5B-04CCFA1B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38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Score pre-reserva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6C523-03DA-47B3-8CB4-5BB378B8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Calcular riesgo con senales disponibles antes de primera reserva.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974F1-7359-40CB-82BF-36D2BD91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2724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C9FE8-D9A1-455E-B775-448DE4F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05B3E-EDC6-4643-B0DE-5E2BE4D0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860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700E4-3247-49C9-BD0E-268658DB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38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Segmentar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A2FE9-B556-4986-A0F0-9BE99159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Low, Moderate, High o Critical para priorizacion operacional.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56365-5520-46CF-9F7F-99D3B5C7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29050"/>
            <a:ext cx="2724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643DB-9FEF-4736-9B36-A19585D3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9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4D60C-C535-4142-B6CC-75BA9C17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671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B300E-A50F-4508-A4AF-693B2C87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19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Intervenir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7E31B-DD80-4D86-8DD3-CA77C632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24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Revision manual, verificacion, mejora de contenido o hold preventivo.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40A8F-4567-4BD9-8A30-0218FC40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2724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7C0FB-DE47-414A-9D7E-8943F23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6B867-9BB9-46F6-BA5A-0B805FC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671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B89FC7-C00D-4057-BB3F-78AEF239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052FC-8D11-4711-B8EA-2D11EA37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Comparar tasa de disputa grave contra linea base 2S-2025.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2A97-206B-41E5-89D2-89429F4D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461BE2-8B24-4DA2-9F52-5A2B1FB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425B78-72FA-4DE4-9325-B709D6C6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3D00F-1A41-46FF-81BC-AA12CDF3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24450"/>
            <a:ext cx="592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0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7070CD-AE7E-4469-B2EA-E4AC9679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244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A4BC3-4D24-410D-87B2-E2154711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578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02E"/>
                </a:solidFill>
                <a:latin typeface="Aptos"/>
                <a:ea typeface="Aptos"/>
                <a:cs typeface="Aptos"/>
              </a:rPr>
              <a:t>Criterio de exito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404097-322B-4E1B-81F5-C39CC27F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Precision &gt;= 85% y reduccion &gt;= 20% solo son validas con etiquetas reales de disputas graves.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690D44-B1C9-488D-AD25-93DD7BB1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463515-65FB-44AC-AC71-690F0500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docs/architecture.md y docs/trust-risk-analytics.md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D2CA7C-DAB6-4F21-A786-00F6E78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11122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BF6B7-F414-4B16-A38E-A05644E4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3401FE-6121-4B00-A14B-08E24461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A63162-8BE1-4200-A4B1-CB588197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CRISP-DM APLICADO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C6F11-B318-4C46-9BC2-20BFEA8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CRISP-DM ordena el avance desde el objetivo SMART hasta el despliegue medible.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3B1EC-9901-4866-A4CD-F032BBEB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Cada fase tiene una salida concreta dentro del proyecto actual.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15C0E-AD2B-4CB6-A655-22A5D389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F2026-6E0E-4759-8C04-4370F20D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8ECD0-1E8D-4DA2-B064-E2AD4EB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7BDD6-59FE-4615-9BB6-782DBEB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Negocio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A27D1-F634-4624-A2FD-4313EB0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Objetivo SMART y pregunta de reduccion de disputas.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BAD6F-F693-454A-B751-AA04B74F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768AD-C6BD-4AB2-B674-D78D9F3E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D12C8-11C2-419E-98CB-A32E0B92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E0AB9-355B-448D-9069-24243FDF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10050-5B74-491A-A4C7-671F1DD0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Listings, reviews y marts trust/risk disponibles.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8AFF8-4E19-4630-988F-C6AEC47B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5383B-C449-40D2-A631-E70131B7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EF76D-40E3-4468-86F9-0B0E220F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479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15E12-BF6C-49BC-A011-83AC1762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Preparacion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EF538-A5CD-4F16-BE6D-19ED0189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05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Medallion, features, snapshots pre-reserva.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31B5D-DC87-42AE-BA1F-C82A114C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C4CC8-704F-4B8D-AD5E-071C69C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51003-0A72-47A3-97E5-54A7BA9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913DD-2210-4181-8C81-38DB18ED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Modelado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3BE20-B548-48D9-A319-4DA4CD07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62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Baseline explicable y clasificador supervisado futuro.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767E4-2810-4400-9827-E0B22B6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671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6DC2C-4128-4879-B8D8-B77E030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50"/>
          </a:solidFill>
          <a:ln xmlns:a="http://schemas.openxmlformats.org/drawingml/2006/main" w="0">
            <a:solidFill>
              <a:srgbClr val="D94A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E704E-8B4F-476C-B4A0-11FC4F3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52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51E31-62C7-4E3C-A10E-8CF2C5F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Evaluacion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44A03-A21A-4E26-B13C-A0BE087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Precision, recall, PR-AUC, falsos positivos y lift.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F78416-4EF2-4888-9B29-5D82F8C0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259326-3A62-4104-873D-717F6AF2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F7984-C830-4956-8466-BBC7B13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052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89619-F783-48E6-A68E-5DB5AF9F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386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Despliegue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AEAFA-CB79-4FA0-951C-E1B2961E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62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Dashboard, revision manual, monitoreo por mercado.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8EA8F5-AD77-4EB4-B8DB-31513DC9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Principio de control: no declarar performance sin etiquetas reales de disputas graves.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E7367F-EAD9-4FA7-A249-FA0FC669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E3CA62-F838-476C-8283-9D2031B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docs/architecture.md y docs/crisp-dm-modelado-airbnb.md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9FB1A7-7F16-440A-AFB7-10DED01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7256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35630-6AC9-4A1C-B4A1-794FFF9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A4BBC2-0C48-4EFE-883C-E0DF139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4A46B7-353C-4D38-80E2-59490216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COMPRENSION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E87B4-1AA1-4821-B91D-4A90D67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04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base medallion ya soporta analitica de riesgo, pero no valida outcomes reales.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FE306-6630-448F-86AE-20417148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El proyecto transforma archivos Airbnb en datasets gold y marts de confianza/riesgo consumibles por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1ACF0-13AA-4158-9018-21CDA1E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EB829-F03A-49FF-AC2A-8786AEFB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37E62-9268-4AD2-ACCD-56571065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csv.gz originales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6E8B9-4447-45A2-BC91-60C50D6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listings*.csv.gz\nreviews*.csv.gz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38C9F-A03A-4828-8D59-FCE1CD3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C851-03D4-410E-8816-A2420D94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064C5-C3C7-4FED-9CB1-B53952B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BRONZE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63A15-0A26-4F07-814C-F682C58D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parquet estandarizado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6CDD0-7087-4839-937C-2EC38D53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columnas alineadas\nmetadata de origen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C2F5A-6F9C-4073-A368-B733F4F9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0CBB0-34F8-4DC6-A023-5C3DA90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BB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8EE7B-A395-4773-B82B-2387EB77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SILVER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60664-2D72-48FD-B98B-E7E46D78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entidades limpias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9E3D9-22DE-4916-BC98-0D539C5A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tipificacion\ndeduplicacion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D9517-8EB9-410D-B3F6-E8AB83AE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4EBFB-2795-4C80-BB8D-61DEFEF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152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E0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5B151-0BBB-49A9-A715-073C791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DC087-9BE8-40A1-88BE-D5054291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datasets y marts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EB9C4-A584-4FEA-AA9D-96087C9D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listings/reviews\nanalytics trust/risk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0953A-9693-4206-8835-7E05FBE1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CA866-41BE-4082-8988-92EF30B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92FE6-26EA-4619-AC86-30B76D3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136,615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18D16-7831-49FE-A899-0FCB4E3D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listings gold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BEBA2-2298-4DD7-BB39-9F445DC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una fila por listing_id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B2ACA-4A7F-44D9-9437-F5F7ACA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F5FD9-C943-4E82-81B7-A9686E6A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14297-E95D-4C80-BB92-6440EAE8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43425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5,361,259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8252F-FAFB-4EA8-AE71-CCA80C2C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76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reviews gold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AF7A2D-FCFC-43CB-80D2-49F8528D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054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una fila por review_id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D8497-56AC-4E68-A736-7F7F792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72519-265D-4F4A-81EC-E8E54EAC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A21D6A-512C-4970-BF7C-9A6D39C8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43425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136,615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61EE6A-8C7E-49A4-979D-B655593E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76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scores trust/risk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1EF99B-8239-40CB-91E1-5F0F2D9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054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mismo nivel listing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9CFAFF-B5DB-40F5-95AF-2B858D9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48F619-A86D-4D43-96A6-F9E87CFD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50"/>
          </a:solidFill>
          <a:ln xmlns:a="http://schemas.openxmlformats.org/drawingml/2006/main" w="0">
            <a:solidFill>
              <a:srgbClr val="D94A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B27650-516A-494F-B272-CE6D012A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43425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9F9001-F260-4170-AAFD-F5CBB927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76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mercados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7F5CB5-7117-4793-BDF6-4559B873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5 paises objetivo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C26F95-48E6-4648-BF35-E3186F80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Brecha critica: faltan reservas, disputas y soporte para medir precision, falsos positivos y reduccion real.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CCDD35-7BAD-4DF9-8E4A-941DA635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A976C4-EDAF-454C-8231-9A5222F7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docs/data-medallion.md, data/gold y data/gold/analytics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FD1C95-83B6-452B-8EE2-FFE8DF4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42190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89CA7-B5D0-47D9-8597-F508618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A7FD31-1ABC-4254-B751-64BBEDA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4A4EE0-1157-4061-B97F-11B21E80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BASELINE DE RIESGO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4DB5A-5C84-4313-8E99-A5F8EC38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El score actual es una linea base explicable, no una prueba de precision del modelo.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2C28E-9897-4B04-A80E-038FCBE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La version `interpretable_rule_based_score_v1` suma cinco senales de riesgo y produce segmentos operativos.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7DEA5-D3FC-48E5-BBFE-195FEAD7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390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974BF-6945-4A47-8A12-3D91C2E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1E5E0-CBE4-4EB6-8104-45D908CC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35E9B-D1B9-4EA7-9BBF-3846E4C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rating bajo o ausente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EC6C0-FBB3-4C6C-89E8-A1A2A3B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1390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FE7D3-158B-4BE1-BAEA-742BBF7A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AC5F9-3693-4E84-AB34-8DD1A463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Host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50547-A0AD-4AC7-8DD0-84F7D504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identidad, superhost, respuesta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E922E-9706-4F46-B642-1377F2D0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7900"/>
            <a:ext cx="1390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F498E-0950-480A-802C-98B4815B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790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880B-3402-4858-BD94-FA8F0E0A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574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Review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C56AC-EB92-4572-8071-44A90B5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62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pocas reviews, recencia, longitud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92C9C-9BF5-443D-BC15-02451211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1390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0634A-2B89-4E13-8DE8-53EF4408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50"/>
          </a:solidFill>
          <a:ln xmlns:a="http://schemas.openxmlformats.org/drawingml/2006/main" w="0">
            <a:solidFill>
              <a:srgbClr val="D94A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7ACED-542A-45ED-A7DA-F303AC8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E1916-7617-4DEF-9DF9-EAAF6CF4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62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descripcion, precio, atributos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B30F5-C85E-4052-A3B3-1BF54667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390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6A1A8-EA54-4FDD-AD75-E072644C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D88E7A-D16B-488E-B25E-DFBE6CE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Price/market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B3DB2-866B-4B1E-A239-5DE922F9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62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outliers y disponibilidad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7C747-2A5E-404A-B34F-07E6C573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risk_score = suma de componentes | trust_score = 100 - risk_score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30CDE-6D98-4068-B5CD-60787C46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046F1-CB96-4FBE-ACEE-CF17111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895C0-CD84-4154-8FB7-3FC39F07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ED988-833D-4891-93EC-6F287F18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99,573 listings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98171-3FF4-45B7-B6EA-D5FEB7FF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risk 8.49 | trust 91.51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5FF71-46BC-47B9-8359-AB3B60D3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0572D8-D23C-47C1-B47C-18064590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2409EE-9320-4B4D-A3F7-5FA2A05E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131784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94D7E3-E1A6-454F-AB52-7E97E7EB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9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24,601 listings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297943-3538-4481-A0E5-EC70517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risk 38.68 | trust 61.32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0550DE-221C-48F3-8353-1146004F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217B81-9656-433B-821A-97C47EA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149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2F63F1-D3C5-40B4-A6AD-18611797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14950"/>
            <a:ext cx="66644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134070-9BA0-4F97-9C4A-AD2D3B8C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12,441 listings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44CCBA-91E4-4171-8A4C-8076533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76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risk 54.40 | trust 45.60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C2E6BA-948C-4C63-BF3C-4C8410A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962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3DF0D4-03D8-441F-85CB-D0AC8AC2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E5B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3E5BB"/>
                </a:solidFill>
                <a:latin typeface="Aptos"/>
                <a:ea typeface="Aptos"/>
                <a:cs typeface="Aptos"/>
              </a:rPr>
              <a:t>Alto riesgo actual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4248CD-6180-48BA-8C1C-12D747B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241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12,441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931501-127F-47B0-92DD-58BFFCD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8D3CA"/>
                </a:solidFill>
                <a:latin typeface="Aptos"/>
                <a:ea typeface="Aptos"/>
                <a:cs typeface="Aptos"/>
              </a:rPr>
              <a:t>listings High; 0 Critical en el mart generado.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1CF212-59F9-483B-996B-D4346E38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21F4D3-E9C9-4FDF-AFCA-B42B0A0A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src/analytics/trust_risk.py y trust_risk_summary.json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499F9E-5F7E-4D1A-8312-77EBA93C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99466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4053C-6B84-4BC4-911F-70E2A7AA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21535F-42B7-4EFE-B715-B3D5CDA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37B343-2E48-4637-BC96-AD399D5A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EVIDENCIA POR MERCADO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79817-4D94-4CD1-917B-EADF4B61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concentracion de riesgo es desigual; las intervenciones necesitan umbrales por mercado.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3E5EC-059B-4B72-8208-70D71FC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Ranking por tasa de listings High/Critical en los mercados disponibles del proyecto.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2EEE3-B139-4CF4-A237-32AB75F3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Spain | Barcelona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C5092-3177-42EB-9AFA-1DD1E73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C0370-5348-4417-A12A-13CBA2D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E989F-EE85-4EF3-9797-D163A7AE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18.56%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C2B01-C1AA-4392-993A-7F7FAED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717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3,374 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D88B3-C451-4CED-AAC1-7E243947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Brazil | Rio de Janeiro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43AF8-9C6A-4AFD-82DE-306F90C1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35C0F-1D2B-4A23-B379-C56D41AC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3563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01607-4DCE-47E9-8397-04C77EA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12.40%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21800-F226-4AD6-9E0C-4ECB4CE0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670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5,340 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32619-A11A-4DDF-A428-10D7974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Spain | Girona / Costa Brava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BD686-CAF7-4C4D-BD51-B8E4F205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B7A5F-FCD3-4887-A603-7FC6EFB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284230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5F42F-4AB3-47A5-B7A7-30CCE17D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623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9.89%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7F70A-BCBE-4378-9BB8-B2E8455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1,688 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B44DF-F8D2-4904-98A3-8742B326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United States | New Orleans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95E36-1A36-4747-BAF7-1A26551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624CB-67E2-4272-80E5-6BC53EBD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215831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EA95A-FBE2-4E12-A10F-C6DCCD4A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576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7.51%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F9DBE-99E0-458B-8B34-60A0C42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34 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592E9-3B90-4A62-B568-21272972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Mexico | Mexico City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C2309-B27E-4586-9321-45D5BD5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DF4B9-BB27-4FA7-BB20-4404399E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64675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EB1C4-3D03-41D2-A127-A0A8AB1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529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5.73%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946E4-805D-46D3-9D9F-190C2996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529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1,550 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92CAF1-BD88-493D-86F0-9717AF6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United States | Asheville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49F741-44D1-46A0-918A-42C0B7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888E02-9C18-4B84-84A3-F0EF2C6D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85642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C0AC5A-3C97-41A6-B78C-8E380FB9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2.98%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F84230-92DF-407C-ACDC-799F993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482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85 high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B4ED5E-F3E3-4E09-9EA5-FD0722CD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Japan | Tokyo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8529A5-58D7-4CEA-B4F4-39A605A1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816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F"/>
          </a:solidFill>
          <a:ln xmlns:a="http://schemas.openxmlformats.org/drawingml/2006/main" w="0">
            <a:solidFill>
              <a:srgbClr val="ECE7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2A33F3-68B4-497D-839C-327A9139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81600"/>
            <a:ext cx="37935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35AC69-9F19-4F5F-9130-2D299366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43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1.32%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897E80-8AFB-46D0-B784-DBB6807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435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370 high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C0EE41-B517-4D8F-8571-33B222AA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1333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95AB19-AEF6-4362-A117-E96607C1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D3E51A-9369-4FA9-90C0-4C2C1A67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935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Prioridad inicial: Barcelona y Rio de Janeiro concentran tasas y volumen relevantes; Japon muestra baja tasa proxy pero requiere validacion con disputas reales.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9FA81B-E309-48F8-997B-898ED901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5F62B0-12D9-437B-9253-EC08C003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data/gold/analytics/market_trust_risk_summary.parquet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EA1F2A-E33A-4394-B476-E4A93CCB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4554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F4CD0-82F3-4AEE-A754-9F250B2B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19682C-191A-4C0A-9C20-CA8CEF30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A89ED9-4F26-4882-8B4E-D9911C1F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PREPARACION PARA 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8A750-8729-47F7-B645-022BB4DE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04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El salto a machine learning exige snapshots pre-reserva y una etiqueta real de disputa grave.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9655C-11FC-42C1-B04B-C8DCB56B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El diseno debe prevenir leakage: solo features disponibles antes de la primera reserva entran al scoring.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1F7ED-4349-4C00-98D7-F233216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266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5C546-AF86-4879-8EF9-D5771CD3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702CC-F674-4BB0-8FC3-C0E3F636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Features pre-reserva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8A61C-CDDE-4542-BCC2-62C16AC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Host, listing, precio, ubicacion, disponibilidad, completitud y senales historicas permitidas.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F93A8-985F-44A0-9D4F-83F02D07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80B14-D732-4B1E-8EE2-81CF85D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2266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2FD7F-0B64-41EE-826D-1236C6AC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48B56-C2AF-42B2-ADEC-83BA86FF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Snapshot historico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06AFE-8A63-4F25-BE68-CDC2D415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Estado del listing antes de su primera reserva, con fecha de corte auditable.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1717F-6C4C-460F-87EA-E501D09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67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C141E-0660-4093-BE24-C60A1EC5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266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039C9-CA03-41B9-A08D-7F0459B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283A1-70CC-4C5E-9729-BDF05FD5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Modelo supervisado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9B842-7A1D-49E4-8FA7-35E5AC2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Probabilidad P(disputa_grave = 1 | senales_pre_reserva).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B8E05-5355-4CD9-80A6-4CE9F620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CCA28-A6D0-4AF3-90EB-34902D78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2266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772EF-90AA-4C73-9337-12B22EF4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50"/>
          </a:solidFill>
          <a:ln xmlns:a="http://schemas.openxmlformats.org/drawingml/2006/main" w="0">
            <a:solidFill>
              <a:srgbClr val="D94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2E68D-F4EF-4867-ADB8-F20D9094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Accion operativa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F27C8-38B8-4262-AD5E-89B9F157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Revision, verificacion, mejora de contenido, monitoreo o hold preventivo.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B8201-942C-400A-B49B-218FEA14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A1D72-EA80-4E74-A9B8-4F707F79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E5B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E5BB"/>
                </a:solidFill>
                <a:latin typeface="Aptos"/>
                <a:ea typeface="Aptos"/>
                <a:cs typeface="Aptos"/>
              </a:rPr>
              <a:t>Etiqueta futura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AB660-7799-4F7F-B947-A4C56758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958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severe_dispute_flag = 1 si el listing genera una disputa grave en la primera reserva o en una ventana operativa definida despues de ella.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36D39-1EBA-44BC-A951-0D4C5056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29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E5"/>
          </a:solidFill>
          <a:ln xmlns:a="http://schemas.openxmlformats.org/drawingml/2006/main" w="9525">
            <a:solidFill>
              <a:srgbClr val="FF5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B3023-4779-4E9F-8F45-D71026C3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768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5A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5A5F"/>
                </a:solidFill>
                <a:latin typeface="Aptos"/>
                <a:ea typeface="Aptos"/>
                <a:cs typeface="Aptos"/>
              </a:rPr>
              <a:t>requiere reservas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1B837-B730-4A44-BAAC-CB9D0B17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29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E5"/>
          </a:solidFill>
          <a:ln xmlns:a="http://schemas.openxmlformats.org/drawingml/2006/main" w="9525">
            <a:solidFill>
              <a:srgbClr val="FF5A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536477-72D1-427A-BFAF-D2862D2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768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5A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5A5F"/>
                </a:solidFill>
                <a:latin typeface="Aptos"/>
                <a:ea typeface="Aptos"/>
                <a:cs typeface="Aptos"/>
              </a:rPr>
              <a:t>requiere disputas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B539C-5093-448B-96C8-9B36E0CB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29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E5"/>
          </a:solidFill>
          <a:ln xmlns:a="http://schemas.openxmlformats.org/drawingml/2006/main" w="9525">
            <a:solidFill>
              <a:srgbClr val="FF5A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9A246-99A2-444B-8D5B-1F84A35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768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5A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5A5F"/>
                </a:solidFill>
                <a:latin typeface="Aptos"/>
                <a:ea typeface="Aptos"/>
                <a:cs typeface="Aptos"/>
              </a:rPr>
              <a:t>requiere soporte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F0E9C7-E37D-4D82-A7A1-2960AB64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E5"/>
          </a:solidFill>
          <a:ln xmlns:a="http://schemas.openxmlformats.org/drawingml/2006/main" w="9525">
            <a:solidFill>
              <a:srgbClr val="FF5A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7C7575-09E8-4711-950D-4EEF23E5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76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5A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5A5F"/>
                </a:solidFill>
                <a:latin typeface="Aptos"/>
                <a:ea typeface="Aptos"/>
                <a:cs typeface="Aptos"/>
              </a:rPr>
              <a:t>linea base 2S-2025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674961-9F42-4AFA-8810-44F504D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A4D0F2-B2E5-4CC6-B08A-50C1D159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docs/crisp-dm-modelado-airbnb.md y docs/trust-risk-analytics.md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EF4661-4213-46AE-8DB8-3B684474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95688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77183-4CB5-4208-8B1B-963B5B73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4062C2-2B1B-4437-B1C6-AFF9102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1CA8CE-2659-4821-BA03-E03D3B51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MODELADO Y EVALUACION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37D69-CD78-4700-99A8-697B5CB1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El modelo debe optimizar precision sin perder control sobre cobertura y falsos positivos.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15940-C4B5-44FC-A8F5-4C8FAAEA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La arquitectura del proyecto recomienda avanzar de baselines simples a modelos mas complejos solo si agregan valor medible.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1CD67-26DE-4A92-B30C-9E31371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77A46-D5B3-4A7E-B157-655776F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1. Logistic regression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8FD4B-39DE-43A5-B356-16F67D73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240A8-F2B1-498E-A5DE-AB13016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2. 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42619-4395-426F-A6E9-F80F1416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E0"/>
          </a:solidFill>
          <a:ln xmlns:a="http://schemas.openxmlformats.org/drawingml/2006/main" w="9525">
            <a:solidFill>
              <a:srgbClr val="FF5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CBD03-6D0B-4451-8D57-2375CE27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Gradient boosting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55895-0C9B-459E-B297-7B3E8374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EA4EF-6B37-4BBE-9158-AFDD5F1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Tabular + 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03F62-04FA-4704-A3EF-8D938EB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1ADAC-9BDD-4C7E-8083-524F82F1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Ensemble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5E243-5231-49A0-9B17-D873F31B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64389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8DD9F-8388-4BDC-8C37-BA2BA766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Gate de aprobacion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9C2F-8A8D-40D6-AB30-EF18CEE3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936EF-CF74-4EFC-894D-E0BE07F9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A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5A5F"/>
                </a:solidFill>
                <a:latin typeface="Aptos"/>
                <a:ea typeface="Aptos"/>
                <a:cs typeface="Aptos"/>
              </a:rPr>
              <a:t>&gt;= 85%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780A4-4E13-453D-B37D-A5155C5A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criterio SMART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6500B-4A71-4DA3-9E8F-4EB2C190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9AFF6-B535-4A5B-8854-4309DE2A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Recall / 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4D571-D5F6-4A50-AE95-C96246E3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E8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E82"/>
                </a:solidFill>
                <a:latin typeface="Aptos"/>
                <a:ea typeface="Aptos"/>
                <a:cs typeface="Aptos"/>
              </a:rPr>
              <a:t>balance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FA575-BBB0-497C-B4D2-AAAA8F98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no detectar solo pocos casos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3A1FF-2DB3-4AFD-B82C-0E14C95A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E70C8-0EC1-466A-8F07-21A59FD1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C8FD2-2571-4156-9E52-3666E27E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E8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E82"/>
                </a:solidFill>
                <a:latin typeface="Aptos"/>
                <a:ea typeface="Aptos"/>
                <a:cs typeface="Aptos"/>
              </a:rPr>
              <a:t>ranking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E9BD2-A102-414D-9A32-436EB479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mejor para clases raras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13C0B-4D4E-41A8-B209-24242AEA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56DDC0-E2BF-4F98-A750-3503FBC6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Precision@k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04AC1-7AE7-4000-A6F7-5420721E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E8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E82"/>
                </a:solidFill>
                <a:latin typeface="Aptos"/>
                <a:ea typeface="Aptos"/>
                <a:cs typeface="Aptos"/>
              </a:rPr>
              <a:t>cola operativa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5FDB7B-C026-413B-810E-543A09A5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revision manual priorizada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9B39D-3968-424E-BD4A-EF18D0A5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73FEF-AFBC-4DD0-9A4D-9618D2B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False positive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41B342-5C35-4BE4-97BA-D8C3B98D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E8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E82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EC610-284A-4AFC-BF46-7280EAD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evitar impacto injusto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7A90B6-460B-4974-8742-35EC29C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45F54E-CE1B-4D4E-A0FC-DD220BBC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Drift/fairness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892057-6878-41C7-BF6C-63970326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E8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E82"/>
                </a:solidFill>
                <a:latin typeface="Aptos"/>
                <a:ea typeface="Aptos"/>
                <a:cs typeface="Aptos"/>
              </a:rPr>
              <a:t>monitoreo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2C9745-98B1-4113-B53E-8069E2D0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mercado, host, propiedad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DA1240-E604-4AE2-A65E-6A61623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F04B34-08E8-4ED4-8AA2-9FF37CDE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942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Criterio rector: no ampliar el despliegue hasta demostrar precision, reduccion de disputas y tolerancia operativa por mercado.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013E14-4EF3-466F-9BAA-68B10D94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11ECD6-4178-4E59-B7E9-671EDB8C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docs/architecture.md y docs/crisp-dm-modelado-airbnb.md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5C1FAD-0492-4E77-A8ED-41BBC055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29836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8FFA9-F3F4-4FD3-A779-92F19DF8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F7F4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EB67CA-2228-4643-9B15-2A757A4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99836C-F6E4-42E4-B971-683AFBE5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779F1-A3A0-4F50-9C6C-8307DA8C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El plazo de 12 meses se divide en contratos de datos, validacion y piloto controlado.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BAF85-7779-4195-9CCD-FD5B92F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La meta de diciembre 2026 requiere cerrar brechas de datos antes de declarar impacto.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B7EBA-35E4-4DD1-A7C9-B26ED73D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18BAC-4D38-4651-B5BF-441C84DC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4D2B3-68C5-4D40-896A-90B55E48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A64B4-8043-4BFC-9CDC-E9406C02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C4C3C-DF9E-4D24-AF43-EBF2DA24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5A5F"/>
                </a:solidFill>
                <a:latin typeface="Aptos"/>
                <a:ea typeface="Aptos"/>
                <a:cs typeface="Aptos"/>
              </a:rPr>
              <a:t>Meses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5D630-30A1-4459-A581-CFE560F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Contratos de 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E3B2A-842B-4930-8C25-0511CED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reservas, disputas, soporte y linea 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0D460-BDEA-4D25-AA71-8072CE5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CF013-E4AA-4D93-8B2C-C8DD229C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62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7D01-DC83-48B8-B13A-3337A011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BBA23-EB21-4A5F-9D56-ACB53F87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05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6E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6E82"/>
                </a:solidFill>
                <a:latin typeface="Aptos"/>
                <a:ea typeface="Aptos"/>
                <a:cs typeface="Aptos"/>
              </a:rPr>
              <a:t>Meses 3-4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2B274-4D3D-4EA0-BB2A-9C284F0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71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Snapshots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C564B-BC77-4FD9-90C1-0A970371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33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features historicas y etiqueta severe_dispute_flag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2A34F-9AAB-4089-8B55-AE6C1ECB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2E8FE-E942-46EC-9FAA-26F37922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07A0E-12DB-441A-AE2D-45EA035A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32431-5A39-4F47-8569-B079CF55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05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02E"/>
                </a:solidFill>
                <a:latin typeface="Aptos"/>
                <a:ea typeface="Aptos"/>
                <a:cs typeface="Aptos"/>
              </a:rPr>
              <a:t>Meses 5-6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242A9-D0AE-4497-9EA0-54D98A19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71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Modelos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48DF3-23DA-4337-B3BC-27C47BA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33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baseline supervisado y gradient boosting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D0659-B223-4041-BC02-A230002B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4B8EC-2C83-408A-8130-7C5B0A5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B686BA-A548-48F8-B3B9-8E3388F0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338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EA6D07-4AA9-45EC-B241-F05DBB55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6E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6E82"/>
                </a:solidFill>
                <a:latin typeface="Aptos"/>
                <a:ea typeface="Aptos"/>
                <a:cs typeface="Aptos"/>
              </a:rPr>
              <a:t>Meses 7-8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DE227C-28EF-482A-BB90-8D4C1302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Calibracion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932B4-8FE7-4E13-A09D-CFA6213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umbrales por pais y mercado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A0C8F7-6E94-46F8-9996-63F35B66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50"/>
          </a:solidFill>
          <a:ln xmlns:a="http://schemas.openxmlformats.org/drawingml/2006/main" w="0">
            <a:solidFill>
              <a:srgbClr val="D94A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885B2E-5A37-442B-8341-2A6A7CBF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78367D-0D4C-49E7-BEDA-73B57DF7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B93F1-344E-4921-A0E7-D93CA978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A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A50"/>
                </a:solidFill>
                <a:latin typeface="Aptos"/>
                <a:ea typeface="Aptos"/>
                <a:cs typeface="Aptos"/>
              </a:rPr>
              <a:t>Meses 9-10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163BD-AA70-4862-9989-00250DF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Piloto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0F40AC-56C9-4267-9CB9-DDE4900B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33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revision manual y acciones preventivas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EFFF06-7B2C-4EF7-8F34-4A00BF83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63D09-3D68-45DB-A787-7E10D781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2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A16546-9A23-4957-BDD1-FA5E267B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9EBDF9-6394-4942-99D2-C189979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02E"/>
                </a:solidFill>
                <a:latin typeface="Aptos"/>
                <a:ea typeface="Aptos"/>
                <a:cs typeface="Aptos"/>
              </a:rPr>
              <a:t>Meses 11-12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3429ED-5423-42AD-AF2A-7531DA8E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71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Escalado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A72218-7064-440A-A7F8-EB1AFA0C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33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medicion vs 2S-2025 y despliegue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42428F-3DAB-4F1A-8C11-E9528DC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7AA8C3-488F-489D-88C7-887EFBA9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04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Flujo operativo actual: run_medallion -&gt; build_trust_risk_analytics -&gt; trust_risk_dashboard -&gt; revision y monitoreo.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3782D7-557A-465B-9FFC-C2EDA838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02C8C2-2E8B-43EB-AF03-4CA93CD5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docs/crisp-dm-modelado-airbnb.md y docs/trust-risk-analytics.md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4B2C89-C968-4E02-8D90-30230495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58337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6888F-06C9-4A25-A892-C496B03B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74C14C-A0EE-4A0E-8E62-6F180D19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90E2CE-09D6-431D-A1B0-39246351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76D"/>
                </a:solidFill>
                <a:latin typeface="Aptos"/>
                <a:ea typeface="Aptos"/>
                <a:cs typeface="Aptos"/>
              </a:rPr>
              <a:t>DECISION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46E6E-A68D-4A73-BBF7-C180C33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525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respuesta es intervenir antes de la primera reserva y medir contra 2S-2025.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5DD18-E138-4410-91EE-8BD20DE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3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3CA"/>
                </a:solidFill>
                <a:latin typeface="Aptos"/>
                <a:ea typeface="Aptos"/>
                <a:cs typeface="Aptos"/>
              </a:rPr>
              <a:t>El proyecto ya tiene foundation analitica; el siguiente salto es convertir el baseline proxy en un modelo supervisado con outcomes reales.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321D0-4AE5-4933-81D5-BFCF9E3C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143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2BF58-0ECA-4492-92B9-219A9055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65390-8995-4AAA-BBEA-D939DAEF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Priorizar riesgo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20F24-EDE1-4CB4-8F0C-9C33529E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38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Usar risk_score, trust_score y segmentos High/Critical para ordenar revision y acciones preventivas.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1A470-BA9A-4CBA-A4E4-F1CCA5D3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3143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0E2CB-7694-416A-9D11-B65502E4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 w="0">
            <a:solidFill>
              <a:srgbClr val="D6A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CBA75-7419-4BD5-9E45-14BBBCE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Cerrar brechas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154B7-109D-4CF8-8C62-D831EF84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38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Integrar reservas, disputas, soporte y logs de decision para construir etiqueta y medir falsos positivos.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198D1-1F2D-417B-AAA0-D3A962A9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3143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B7A0E-8ED2-4010-9A5E-273722F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82"/>
          </a:solidFill>
          <a:ln xmlns:a="http://schemas.openxmlformats.org/drawingml/2006/main" w="0">
            <a:solidFill>
              <a:srgbClr val="126E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7275A-BDC8-47A9-9D55-8FE82A1E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Validar impacto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F3185-2B0B-403B-A59C-AB2EA8FB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38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Aprobar despliegue solo con precision &gt;= 85% y reduccion &gt;= 20% frente a linea base 2S-2025.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55BF4-DDBD-4EC8-A86C-9D979D4C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01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D3AA2-77AB-4966-9B8C-BFF229F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1021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Conclusion: con la informacion actual se puede defender un baseline de priorizacion; no se debe afirmar performance final hasta incorporar etiquetas reales de disputas graves.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035FC-9598-403C-94FE-093E430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solidFill>
              <a:srgbClr val="D8D3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D25BA-B917-442C-8FF6-9B700794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Fuente: sintesis CRISP-DM basada en repositorio actual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543A8-2082-4083-AA40-B725C06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7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7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1869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2026-05-29T14:09:00.2540000Z</dcterms:created>
  <dcterms:modified xsi:type="dcterms:W3CDTF">2026-05-29T14:09:00.2540000Z</dcterms:modified>
</coreProperties>
</file>